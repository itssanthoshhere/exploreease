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70" r:id="rId2"/>
    <p:sldId id="271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8" r:id="rId13"/>
    <p:sldId id="265" r:id="rId14"/>
    <p:sldId id="266" r:id="rId15"/>
  </p:sldIdLst>
  <p:sldSz cx="14630400" cy="8229600"/>
  <p:notesSz cx="8229600" cy="14630400"/>
  <p:embeddedFontLst>
    <p:embeddedFont>
      <p:font typeface="Open Sans" panose="020B0606030504020204" pitchFamily="34" charset="0"/>
      <p:regular r:id="rId17"/>
      <p:bold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793554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7EDE9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CFA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1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4.png"/><Relationship Id="rId11" Type="http://schemas.openxmlformats.org/officeDocument/2006/relationships/image" Target="../media/image11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6470" y="1225641"/>
            <a:ext cx="1047083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Design Thinking and Innovation (CSET210)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021205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Problem Statement</a:t>
            </a:r>
            <a:endParaRPr lang="en-US" sz="3550" dirty="0"/>
          </a:p>
        </p:txBody>
      </p:sp>
      <p:sp>
        <p:nvSpPr>
          <p:cNvPr id="4" name="Text 2"/>
          <p:cNvSpPr/>
          <p:nvPr/>
        </p:nvSpPr>
        <p:spPr>
          <a:xfrm>
            <a:off x="793790" y="2928342"/>
            <a:ext cx="494930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 err="1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ExploreEase</a:t>
            </a: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 – AI‑Powered Travel Planner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93790" y="362283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Theme: Simplifying Travel Planning with AI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4325898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Team ID: 06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93790" y="5020389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Mentor</a:t>
            </a:r>
            <a:endParaRPr lang="en-US" sz="26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5825490"/>
            <a:ext cx="566976" cy="56697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87579" y="5785842"/>
            <a:ext cx="289429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Dr. Gulshan Shrivastava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587579" y="6276261"/>
            <a:ext cx="1224903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Our team is guided by Dr. Shrivastava. His expertise is invaluable to our project.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793790" y="6894314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Dr. Shrivastava has provided guidance and support throughout our journey. His insights helped shape our AI travel planner.</a:t>
            </a:r>
            <a:endParaRPr lang="en-US" sz="175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F83A74-07A6-6CC1-FB5C-E96CA7156A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8990" y="209862"/>
            <a:ext cx="5788580" cy="10376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188797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8638" y="2304455"/>
            <a:ext cx="3776067" cy="472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00"/>
              </a:lnSpc>
              <a:buNone/>
            </a:pPr>
            <a:r>
              <a:rPr lang="en-US" sz="29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Our Team Members &amp; Roles</a:t>
            </a:r>
            <a:endParaRPr lang="en-US" sz="29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638" y="3002994"/>
            <a:ext cx="755213" cy="120253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510308" y="3153966"/>
            <a:ext cx="1887974" cy="235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Bhanuteja Padamata</a:t>
            </a:r>
            <a:endParaRPr lang="en-US" sz="1450" dirty="0"/>
          </a:p>
        </p:txBody>
      </p:sp>
      <p:sp>
        <p:nvSpPr>
          <p:cNvPr id="6" name="Text 2"/>
          <p:cNvSpPr/>
          <p:nvPr/>
        </p:nvSpPr>
        <p:spPr>
          <a:xfrm>
            <a:off x="1510308" y="3480554"/>
            <a:ext cx="12591455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Role:</a:t>
            </a: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AI Model Development &amp; Frontend Support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1510308" y="3812858"/>
            <a:ext cx="12591455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Designed AI system and integrated OpenRouter API.</a:t>
            </a:r>
            <a:endParaRPr lang="en-US" sz="11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638" y="4205526"/>
            <a:ext cx="755213" cy="1202531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510308" y="4356497"/>
            <a:ext cx="1887974" cy="235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V S Santhosh</a:t>
            </a:r>
            <a:endParaRPr lang="en-US" sz="1450" dirty="0"/>
          </a:p>
        </p:txBody>
      </p:sp>
      <p:sp>
        <p:nvSpPr>
          <p:cNvPr id="10" name="Text 5"/>
          <p:cNvSpPr/>
          <p:nvPr/>
        </p:nvSpPr>
        <p:spPr>
          <a:xfrm>
            <a:off x="1510308" y="4683085"/>
            <a:ext cx="12591455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Role:</a:t>
            </a: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Backend Developer &amp; System Integrator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1510308" y="5015389"/>
            <a:ext cx="12591455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Developed backend using Node.js and integrated MySQL database.</a:t>
            </a:r>
            <a:endParaRPr lang="en-US" sz="11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8638" y="5408057"/>
            <a:ext cx="755213" cy="120253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510308" y="5559028"/>
            <a:ext cx="1887974" cy="235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Shubham Pandey</a:t>
            </a:r>
            <a:endParaRPr lang="en-US" sz="1450" dirty="0"/>
          </a:p>
        </p:txBody>
      </p:sp>
      <p:sp>
        <p:nvSpPr>
          <p:cNvPr id="14" name="Text 8"/>
          <p:cNvSpPr/>
          <p:nvPr/>
        </p:nvSpPr>
        <p:spPr>
          <a:xfrm>
            <a:off x="1510308" y="5885617"/>
            <a:ext cx="12591455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Role:</a:t>
            </a: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Frontend UI/UX Designer &amp; Data Flow Architect</a:t>
            </a:r>
            <a:endParaRPr lang="en-US" sz="1150" dirty="0"/>
          </a:p>
        </p:txBody>
      </p:sp>
      <p:sp>
        <p:nvSpPr>
          <p:cNvPr id="15" name="Text 9"/>
          <p:cNvSpPr/>
          <p:nvPr/>
        </p:nvSpPr>
        <p:spPr>
          <a:xfrm>
            <a:off x="1510308" y="6217920"/>
            <a:ext cx="12591455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Built responsive interface using React.js and TypeScript.</a:t>
            </a:r>
            <a:endParaRPr lang="en-US" sz="115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8638" y="6610588"/>
            <a:ext cx="755213" cy="1202531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510308" y="6761559"/>
            <a:ext cx="1887974" cy="2359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Maligi Yashika</a:t>
            </a:r>
            <a:endParaRPr lang="en-US" sz="1450" dirty="0"/>
          </a:p>
        </p:txBody>
      </p:sp>
      <p:sp>
        <p:nvSpPr>
          <p:cNvPr id="18" name="Text 11"/>
          <p:cNvSpPr/>
          <p:nvPr/>
        </p:nvSpPr>
        <p:spPr>
          <a:xfrm>
            <a:off x="1510308" y="7088148"/>
            <a:ext cx="12591455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Role:</a:t>
            </a: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Data Collection &amp; Integration &amp; User Journey Mapping</a:t>
            </a:r>
            <a:endParaRPr lang="en-US" sz="1150" dirty="0"/>
          </a:p>
        </p:txBody>
      </p:sp>
      <p:sp>
        <p:nvSpPr>
          <p:cNvPr id="19" name="Text 12"/>
          <p:cNvSpPr/>
          <p:nvPr/>
        </p:nvSpPr>
        <p:spPr>
          <a:xfrm>
            <a:off x="1510308" y="7420451"/>
            <a:ext cx="12591455" cy="2416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1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Handled data gathering and designed the user journey.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2382560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ExploreEase – AI-Powered Travel Planner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140279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Transforming Travel Planning with AI. 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4758333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ExploreEase is your smart companion for hassle-free travel planning. Our AI-powered platform creates personalized itineraries, optimizes budgets, and provides seamless booking assistance.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15353"/>
            <a:ext cx="7262217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Your Smart Travel Companion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191107"/>
            <a:ext cx="296799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Introducing ExploreEase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93790" y="2772251"/>
            <a:ext cx="6244709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ExploreEase revolutionizes travel planning with AI. We offer personalized itineraries and hassle-free booking assistance.</a:t>
            </a:r>
            <a:endParaRPr lang="en-US" sz="1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9521" y="2219444"/>
            <a:ext cx="6244709" cy="427267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599521" y="6747272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Your Smart Companion for Hassle-Free Travel Planning.</a:t>
            </a:r>
            <a:endParaRPr lang="en-US" sz="175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6EA9D788-50D8-AAB6-7ABF-54C3A99074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2148" y="7715828"/>
            <a:ext cx="1808252" cy="4572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515070"/>
            <a:ext cx="700087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The Travel Planning Problem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2819162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5260" y="2861667"/>
            <a:ext cx="340162" cy="42529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017306" y="281916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Time-Consuming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7017306" y="3309580"/>
            <a:ext cx="2927747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Hours spent researching destinations and itineraries.</a:t>
            </a:r>
            <a:endParaRPr lang="en-US" sz="1750" dirty="0"/>
          </a:p>
        </p:txBody>
      </p:sp>
      <p:sp>
        <p:nvSpPr>
          <p:cNvPr id="8" name="Shape 4"/>
          <p:cNvSpPr/>
          <p:nvPr/>
        </p:nvSpPr>
        <p:spPr>
          <a:xfrm>
            <a:off x="10171867" y="2819162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6937" y="2861667"/>
            <a:ext cx="340162" cy="42529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908983" y="281916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Overwhelming Choices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10908983" y="3309580"/>
            <a:ext cx="2927747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Too many options lead to decision paralysis.</a:t>
            </a:r>
            <a:endParaRPr lang="en-US" sz="1750" dirty="0"/>
          </a:p>
        </p:txBody>
      </p:sp>
      <p:sp>
        <p:nvSpPr>
          <p:cNvPr id="12" name="Shape 7"/>
          <p:cNvSpPr/>
          <p:nvPr/>
        </p:nvSpPr>
        <p:spPr>
          <a:xfrm>
            <a:off x="6280190" y="4880253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260" y="4922758"/>
            <a:ext cx="340162" cy="42529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017306" y="488025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Lack of Personalization</a:t>
            </a:r>
            <a:endParaRPr lang="en-US" sz="2200" dirty="0"/>
          </a:p>
        </p:txBody>
      </p:sp>
      <p:sp>
        <p:nvSpPr>
          <p:cNvPr id="15" name="Text 9"/>
          <p:cNvSpPr/>
          <p:nvPr/>
        </p:nvSpPr>
        <p:spPr>
          <a:xfrm>
            <a:off x="7017306" y="5370671"/>
            <a:ext cx="681930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Generic recommendations don't fit unique preferences.</a:t>
            </a:r>
            <a:endParaRPr lang="en-US" sz="1750" dirty="0"/>
          </a:p>
        </p:txBody>
      </p:sp>
      <p:sp>
        <p:nvSpPr>
          <p:cNvPr id="16" name="Text 10"/>
          <p:cNvSpPr/>
          <p:nvPr/>
        </p:nvSpPr>
        <p:spPr>
          <a:xfrm>
            <a:off x="6280190" y="5988725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Did you know? Travelers spend an average of 20 hours planning a single trip.</a:t>
            </a:r>
            <a:endParaRPr lang="en-US" sz="1750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1EB0ADE-B46C-66C3-5ABA-96966BDB3F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98858" y="7702121"/>
            <a:ext cx="1869897" cy="4572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661041"/>
            <a:ext cx="6139339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The ExploreEase Solution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793790" y="2709982"/>
            <a:ext cx="170021" cy="853321"/>
          </a:xfrm>
          <a:prstGeom prst="roundRect">
            <a:avLst>
              <a:gd name="adj" fmla="val 56033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303973" y="2709982"/>
            <a:ext cx="368855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AI-Powered Itinerary Planning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303973" y="3200400"/>
            <a:ext cx="7046238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Intelligent trip generation based on your preferences.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1133951" y="3790117"/>
            <a:ext cx="170021" cy="853321"/>
          </a:xfrm>
          <a:prstGeom prst="roundRect">
            <a:avLst>
              <a:gd name="adj" fmla="val 56033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644134" y="3790117"/>
            <a:ext cx="384298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Personalized Recommendations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44134" y="4280535"/>
            <a:ext cx="670607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Tailored suggestions for attractions, dining, and lodging.</a:t>
            </a:r>
            <a:endParaRPr lang="en-US" sz="1750" dirty="0"/>
          </a:p>
        </p:txBody>
      </p:sp>
      <p:sp>
        <p:nvSpPr>
          <p:cNvPr id="10" name="Shape 7"/>
          <p:cNvSpPr/>
          <p:nvPr/>
        </p:nvSpPr>
        <p:spPr>
          <a:xfrm>
            <a:off x="1474232" y="4870252"/>
            <a:ext cx="170021" cy="853321"/>
          </a:xfrm>
          <a:prstGeom prst="roundRect">
            <a:avLst>
              <a:gd name="adj" fmla="val 56033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984415" y="487025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Budget Optimization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984415" y="5360670"/>
            <a:ext cx="636579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Smart expense tracking to maximize travel funds.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793790" y="6205538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ExploreEase solves these issues with AI-driven solutions.</a:t>
            </a:r>
            <a:endParaRPr lang="en-US" sz="1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843" y="856774"/>
            <a:ext cx="4964311" cy="339661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409498" y="833795"/>
            <a:ext cx="4752023" cy="5757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How ExploreEase Works</a:t>
            </a:r>
            <a:endParaRPr lang="en-US" sz="36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9498" y="1616750"/>
            <a:ext cx="3291721" cy="73687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593687" y="2629972"/>
            <a:ext cx="2303026" cy="28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Input Preferences</a:t>
            </a:r>
            <a:endParaRPr lang="en-US" sz="1800" dirty="0"/>
          </a:p>
        </p:txBody>
      </p:sp>
      <p:sp>
        <p:nvSpPr>
          <p:cNvPr id="6" name="Text 2"/>
          <p:cNvSpPr/>
          <p:nvPr/>
        </p:nvSpPr>
        <p:spPr>
          <a:xfrm>
            <a:off x="7593687" y="3101935"/>
            <a:ext cx="2923342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Tell us your travel style and interests.</a:t>
            </a:r>
            <a:endParaRPr lang="en-US" sz="145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1218" y="1616750"/>
            <a:ext cx="3291840" cy="73687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885408" y="2629972"/>
            <a:ext cx="2303026" cy="28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AI Generates Itinerary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10885408" y="3101935"/>
            <a:ext cx="2923461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Receive a custom-made travel plan.</a:t>
            </a:r>
            <a:endParaRPr lang="en-US" sz="1450" dirty="0"/>
          </a:p>
        </p:txBody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9498" y="4151828"/>
            <a:ext cx="3291721" cy="736878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7593687" y="5165050"/>
            <a:ext cx="2688431" cy="28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Booking Recommendations</a:t>
            </a:r>
            <a:endParaRPr lang="en-US" sz="1800" dirty="0"/>
          </a:p>
        </p:txBody>
      </p:sp>
      <p:sp>
        <p:nvSpPr>
          <p:cNvPr id="12" name="Text 6"/>
          <p:cNvSpPr/>
          <p:nvPr/>
        </p:nvSpPr>
        <p:spPr>
          <a:xfrm>
            <a:off x="7593687" y="5637014"/>
            <a:ext cx="2923342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Seamlessly book flights, hotels, and activities.</a:t>
            </a:r>
            <a:endParaRPr lang="en-US" sz="14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01218" y="4151828"/>
            <a:ext cx="3291840" cy="736878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885408" y="5165050"/>
            <a:ext cx="2303026" cy="2877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Seamless Travel</a:t>
            </a:r>
            <a:endParaRPr lang="en-US" sz="1800" dirty="0"/>
          </a:p>
        </p:txBody>
      </p:sp>
      <p:sp>
        <p:nvSpPr>
          <p:cNvPr id="15" name="Text 8"/>
          <p:cNvSpPr/>
          <p:nvPr/>
        </p:nvSpPr>
        <p:spPr>
          <a:xfrm>
            <a:off x="10885408" y="5637014"/>
            <a:ext cx="2923461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Enjoy a stress-free travel experience.</a:t>
            </a:r>
            <a:endParaRPr lang="en-US" sz="1450" dirty="0"/>
          </a:p>
        </p:txBody>
      </p:sp>
      <p:sp>
        <p:nvSpPr>
          <p:cNvPr id="16" name="Text 9"/>
          <p:cNvSpPr/>
          <p:nvPr/>
        </p:nvSpPr>
        <p:spPr>
          <a:xfrm>
            <a:off x="7409498" y="6617732"/>
            <a:ext cx="6583561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step-by-step user journey for hassle-free travel.</a:t>
            </a:r>
            <a:endParaRPr lang="en-US" sz="1450" dirty="0"/>
          </a:p>
        </p:txBody>
      </p:sp>
      <p:sp>
        <p:nvSpPr>
          <p:cNvPr id="17" name="Text 10"/>
          <p:cNvSpPr/>
          <p:nvPr/>
        </p:nvSpPr>
        <p:spPr>
          <a:xfrm>
            <a:off x="644843" y="7285315"/>
            <a:ext cx="13340715" cy="294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endParaRPr lang="en-US" sz="145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61AC9A98-DEA5-498A-B8D5-313CD6C565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98858" y="7702121"/>
            <a:ext cx="1869897" cy="4572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958929"/>
            <a:ext cx="6096714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ExploreEase Key Features</a:t>
            </a:r>
            <a:endParaRPr lang="en-US" sz="44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0190" y="2007870"/>
            <a:ext cx="566976" cy="566976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280190" y="2801660"/>
            <a:ext cx="2291953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Personalized Itineraries</a:t>
            </a:r>
            <a:endParaRPr lang="en-US" sz="2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2304" y="2007870"/>
            <a:ext cx="566976" cy="566976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8912304" y="2801660"/>
            <a:ext cx="2292072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Real-time Price Comparisons</a:t>
            </a:r>
            <a:endParaRPr lang="en-US" sz="2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44538" y="2007870"/>
            <a:ext cx="566976" cy="566976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1544538" y="2801660"/>
            <a:ext cx="229195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Smart Budgeting</a:t>
            </a:r>
            <a:endParaRPr lang="en-US" sz="22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0190" y="4190762"/>
            <a:ext cx="566976" cy="566976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6280190" y="4984552"/>
            <a:ext cx="2291953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Integrated Booking</a:t>
            </a:r>
            <a:endParaRPr lang="en-US" sz="2200" dirty="0"/>
          </a:p>
        </p:txBody>
      </p:sp>
      <p:sp>
        <p:nvSpPr>
          <p:cNvPr id="12" name="Shape 5"/>
          <p:cNvSpPr/>
          <p:nvPr/>
        </p:nvSpPr>
        <p:spPr>
          <a:xfrm>
            <a:off x="6280190" y="5948363"/>
            <a:ext cx="7556421" cy="1322189"/>
          </a:xfrm>
          <a:prstGeom prst="roundRect">
            <a:avLst>
              <a:gd name="adj" fmla="val 7205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sp>
        <p:nvSpPr>
          <p:cNvPr id="13" name="Text 6"/>
          <p:cNvSpPr/>
          <p:nvPr/>
        </p:nvSpPr>
        <p:spPr>
          <a:xfrm>
            <a:off x="6514624" y="618279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Travel Guides</a:t>
            </a:r>
            <a:endParaRPr lang="en-US" sz="2200" dirty="0"/>
          </a:p>
        </p:txBody>
      </p:sp>
      <p:sp>
        <p:nvSpPr>
          <p:cNvPr id="14" name="Text 7"/>
          <p:cNvSpPr/>
          <p:nvPr/>
        </p:nvSpPr>
        <p:spPr>
          <a:xfrm>
            <a:off x="6514624" y="6673215"/>
            <a:ext cx="708755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Discover hidden gems with expert travel tips.</a:t>
            </a:r>
            <a:endParaRPr lang="en-US" sz="17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35C2B35-164A-C840-CEA5-6CDEC4FEDA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98858" y="7702121"/>
            <a:ext cx="1869897" cy="4572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955959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Under the Hood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348" y="3118366"/>
            <a:ext cx="2152055" cy="80795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894892" y="3410188"/>
            <a:ext cx="318968" cy="398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00"/>
              </a:lnSpc>
              <a:buNone/>
            </a:pPr>
            <a:r>
              <a:rPr lang="en-US" sz="25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1</a:t>
            </a:r>
            <a:endParaRPr lang="en-US" sz="2500" dirty="0"/>
          </a:p>
        </p:txBody>
      </p:sp>
      <p:sp>
        <p:nvSpPr>
          <p:cNvPr id="5" name="Text 2"/>
          <p:cNvSpPr/>
          <p:nvPr/>
        </p:nvSpPr>
        <p:spPr>
          <a:xfrm>
            <a:off x="5357217" y="3345180"/>
            <a:ext cx="280166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AI/ML Models and APIs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5187077" y="3939421"/>
            <a:ext cx="8592860" cy="15240"/>
          </a:xfrm>
          <a:prstGeom prst="roundRect">
            <a:avLst>
              <a:gd name="adj" fmla="val 625116"/>
            </a:avLst>
          </a:prstGeom>
          <a:solidFill>
            <a:srgbClr val="D1C8C6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02381" y="3982998"/>
            <a:ext cx="4304109" cy="80795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94892" y="4187666"/>
            <a:ext cx="318968" cy="398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00"/>
              </a:lnSpc>
              <a:buNone/>
            </a:pPr>
            <a:r>
              <a:rPr lang="en-US" sz="25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2</a:t>
            </a:r>
            <a:endParaRPr lang="en-US" sz="2500" dirty="0"/>
          </a:p>
        </p:txBody>
      </p:sp>
      <p:sp>
        <p:nvSpPr>
          <p:cNvPr id="9" name="Text 5"/>
          <p:cNvSpPr/>
          <p:nvPr/>
        </p:nvSpPr>
        <p:spPr>
          <a:xfrm>
            <a:off x="6433304" y="4209812"/>
            <a:ext cx="1030367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Backend</a:t>
            </a:r>
            <a:endParaRPr lang="en-US" sz="2200" dirty="0"/>
          </a:p>
        </p:txBody>
      </p:sp>
      <p:sp>
        <p:nvSpPr>
          <p:cNvPr id="10" name="Shape 6"/>
          <p:cNvSpPr/>
          <p:nvPr/>
        </p:nvSpPr>
        <p:spPr>
          <a:xfrm>
            <a:off x="6263164" y="4804053"/>
            <a:ext cx="7516773" cy="15240"/>
          </a:xfrm>
          <a:prstGeom prst="roundRect">
            <a:avLst>
              <a:gd name="adj" fmla="val 625116"/>
            </a:avLst>
          </a:prstGeom>
          <a:solidFill>
            <a:srgbClr val="D1C8C6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294" y="4847630"/>
            <a:ext cx="6456164" cy="80795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894773" y="5052298"/>
            <a:ext cx="318968" cy="398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00"/>
              </a:lnSpc>
              <a:buNone/>
            </a:pPr>
            <a:r>
              <a:rPr lang="en-US" sz="25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3</a:t>
            </a:r>
            <a:endParaRPr lang="en-US" sz="2500" dirty="0"/>
          </a:p>
        </p:txBody>
      </p:sp>
      <p:sp>
        <p:nvSpPr>
          <p:cNvPr id="13" name="Text 8"/>
          <p:cNvSpPr/>
          <p:nvPr/>
        </p:nvSpPr>
        <p:spPr>
          <a:xfrm>
            <a:off x="7509272" y="5074444"/>
            <a:ext cx="111002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Frontend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793790" y="5910739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Our platform uses advanced AI/ML models, and secure APIs.</a:t>
            </a:r>
            <a:endParaRPr lang="en-US" sz="17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6F1359A-587C-6817-377E-6B6F710E06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98858" y="7702121"/>
            <a:ext cx="1869897" cy="4572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1762363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ExploreEase vs Traditional Apps</a:t>
            </a:r>
            <a:endParaRPr lang="en-US" sz="4450" dirty="0"/>
          </a:p>
        </p:txBody>
      </p:sp>
      <p:sp>
        <p:nvSpPr>
          <p:cNvPr id="4" name="Shape 1"/>
          <p:cNvSpPr/>
          <p:nvPr/>
        </p:nvSpPr>
        <p:spPr>
          <a:xfrm>
            <a:off x="6280190" y="3520083"/>
            <a:ext cx="7556421" cy="2329101"/>
          </a:xfrm>
          <a:prstGeom prst="roundRect">
            <a:avLst>
              <a:gd name="adj" fmla="val 4090"/>
            </a:avLst>
          </a:prstGeom>
          <a:noFill/>
          <a:ln w="7620">
            <a:solidFill>
              <a:srgbClr val="000000">
                <a:alpha val="800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287810" y="3527703"/>
            <a:ext cx="7540347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6515457" y="3671411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Itinerary Planning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9032438" y="3671411"/>
            <a:ext cx="205192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AI-Powered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11545610" y="3671411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Manual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6287810" y="4178022"/>
            <a:ext cx="7540347" cy="1013222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515457" y="4321731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Personalization</a:t>
            </a:r>
            <a:endParaRPr lang="en-US" sz="1750" dirty="0"/>
          </a:p>
        </p:txBody>
      </p:sp>
      <p:sp>
        <p:nvSpPr>
          <p:cNvPr id="11" name="Text 8"/>
          <p:cNvSpPr/>
          <p:nvPr/>
        </p:nvSpPr>
        <p:spPr>
          <a:xfrm>
            <a:off x="9032438" y="4321731"/>
            <a:ext cx="205192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Highly Personalized</a:t>
            </a:r>
            <a:endParaRPr lang="en-US" sz="1750" dirty="0"/>
          </a:p>
        </p:txBody>
      </p:sp>
      <p:sp>
        <p:nvSpPr>
          <p:cNvPr id="12" name="Text 9"/>
          <p:cNvSpPr/>
          <p:nvPr/>
        </p:nvSpPr>
        <p:spPr>
          <a:xfrm>
            <a:off x="11545610" y="4321731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Limited</a:t>
            </a:r>
            <a:endParaRPr lang="en-US" sz="1750" dirty="0"/>
          </a:p>
        </p:txBody>
      </p:sp>
      <p:sp>
        <p:nvSpPr>
          <p:cNvPr id="13" name="Shape 10"/>
          <p:cNvSpPr/>
          <p:nvPr/>
        </p:nvSpPr>
        <p:spPr>
          <a:xfrm>
            <a:off x="6287810" y="5191244"/>
            <a:ext cx="7540347" cy="650319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4" name="Text 11"/>
          <p:cNvSpPr/>
          <p:nvPr/>
        </p:nvSpPr>
        <p:spPr>
          <a:xfrm>
            <a:off x="6515457" y="5334953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Price Comparison</a:t>
            </a:r>
            <a:endParaRPr lang="en-US" sz="1750" dirty="0"/>
          </a:p>
        </p:txBody>
      </p:sp>
      <p:sp>
        <p:nvSpPr>
          <p:cNvPr id="15" name="Text 12"/>
          <p:cNvSpPr/>
          <p:nvPr/>
        </p:nvSpPr>
        <p:spPr>
          <a:xfrm>
            <a:off x="9032438" y="5334953"/>
            <a:ext cx="205192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Real-Time</a:t>
            </a:r>
            <a:endParaRPr lang="en-US" sz="1750" dirty="0"/>
          </a:p>
        </p:txBody>
      </p:sp>
      <p:sp>
        <p:nvSpPr>
          <p:cNvPr id="16" name="Text 13"/>
          <p:cNvSpPr/>
          <p:nvPr/>
        </p:nvSpPr>
        <p:spPr>
          <a:xfrm>
            <a:off x="11545610" y="5334953"/>
            <a:ext cx="2055733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Delayed</a:t>
            </a:r>
            <a:endParaRPr lang="en-US" sz="1750" dirty="0"/>
          </a:p>
        </p:txBody>
      </p:sp>
      <p:sp>
        <p:nvSpPr>
          <p:cNvPr id="17" name="Text 14"/>
          <p:cNvSpPr/>
          <p:nvPr/>
        </p:nvSpPr>
        <p:spPr>
          <a:xfrm>
            <a:off x="6280190" y="6104334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Experience the unique AI-driven advantage.</a:t>
            </a:r>
            <a:endParaRPr lang="en-US" sz="175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5AB5DDC-7103-16F6-7CA5-9338E5198E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42697" y="7727679"/>
            <a:ext cx="1787703" cy="4572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1842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Our Target Audience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330" y="3598426"/>
            <a:ext cx="7825621" cy="7825621"/>
          </a:xfrm>
          <a:prstGeom prst="rect">
            <a:avLst/>
          </a:prstGeom>
        </p:spPr>
      </p:pic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2456" y="6148864"/>
            <a:ext cx="382667" cy="478393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02330" y="3598426"/>
            <a:ext cx="7825621" cy="7825621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0631" y="4560689"/>
            <a:ext cx="382667" cy="478393"/>
          </a:xfrm>
          <a:prstGeom prst="rect">
            <a:avLst/>
          </a:prstGeom>
        </p:spPr>
      </p:pic>
      <p:pic>
        <p:nvPicPr>
          <p:cNvPr id="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2330" y="3598426"/>
            <a:ext cx="7825621" cy="7825621"/>
          </a:xfrm>
          <a:prstGeom prst="rect">
            <a:avLst/>
          </a:prstGeom>
        </p:spPr>
      </p:pic>
      <p:pic>
        <p:nvPicPr>
          <p:cNvPr id="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6745" y="4560689"/>
            <a:ext cx="382667" cy="478393"/>
          </a:xfrm>
          <a:prstGeom prst="rect">
            <a:avLst/>
          </a:prstGeom>
        </p:spPr>
      </p:pic>
      <p:pic>
        <p:nvPicPr>
          <p:cNvPr id="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02330" y="3598426"/>
            <a:ext cx="7825621" cy="7825621"/>
          </a:xfrm>
          <a:prstGeom prst="rect">
            <a:avLst/>
          </a:prstGeom>
        </p:spPr>
      </p:pic>
      <p:pic>
        <p:nvPicPr>
          <p:cNvPr id="1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834920" y="6148864"/>
            <a:ext cx="382667" cy="478393"/>
          </a:xfrm>
          <a:prstGeom prst="rect">
            <a:avLst/>
          </a:prstGeom>
        </p:spPr>
      </p:pic>
      <p:sp>
        <p:nvSpPr>
          <p:cNvPr id="11" name="Text 1"/>
          <p:cNvSpPr/>
          <p:nvPr/>
        </p:nvSpPr>
        <p:spPr>
          <a:xfrm>
            <a:off x="793790" y="1880830"/>
            <a:ext cx="300549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12" name="Text 2"/>
          <p:cNvSpPr/>
          <p:nvPr/>
        </p:nvSpPr>
        <p:spPr>
          <a:xfrm>
            <a:off x="793790" y="2379821"/>
            <a:ext cx="300549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13" name="Text 3"/>
          <p:cNvSpPr/>
          <p:nvPr/>
        </p:nvSpPr>
        <p:spPr>
          <a:xfrm>
            <a:off x="793790" y="2878812"/>
            <a:ext cx="300549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14" name="Text 4"/>
          <p:cNvSpPr/>
          <p:nvPr/>
        </p:nvSpPr>
        <p:spPr>
          <a:xfrm>
            <a:off x="850763" y="407950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Solo Travelers</a:t>
            </a:r>
            <a:endParaRPr lang="en-US" sz="2200" dirty="0"/>
          </a:p>
        </p:txBody>
      </p:sp>
      <p:sp>
        <p:nvSpPr>
          <p:cNvPr id="15" name="Text 5"/>
          <p:cNvSpPr/>
          <p:nvPr/>
        </p:nvSpPr>
        <p:spPr>
          <a:xfrm>
            <a:off x="680503" y="4494729"/>
            <a:ext cx="300549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Independent adventurers seeking unique experiences.</a:t>
            </a:r>
            <a:endParaRPr lang="en-US" sz="1750" dirty="0"/>
          </a:p>
        </p:txBody>
      </p:sp>
      <p:sp>
        <p:nvSpPr>
          <p:cNvPr id="16" name="Text 6"/>
          <p:cNvSpPr/>
          <p:nvPr/>
        </p:nvSpPr>
        <p:spPr>
          <a:xfrm>
            <a:off x="3799285" y="236672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Business Travelers</a:t>
            </a:r>
            <a:endParaRPr lang="en-US" sz="2200" dirty="0"/>
          </a:p>
        </p:txBody>
      </p:sp>
      <p:sp>
        <p:nvSpPr>
          <p:cNvPr id="17" name="Text 7"/>
          <p:cNvSpPr/>
          <p:nvPr/>
        </p:nvSpPr>
        <p:spPr>
          <a:xfrm>
            <a:off x="3799285" y="2807673"/>
            <a:ext cx="300561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Efficient and reliable travel solutions.</a:t>
            </a:r>
            <a:endParaRPr lang="en-US" sz="1750" dirty="0"/>
          </a:p>
        </p:txBody>
      </p:sp>
      <p:sp>
        <p:nvSpPr>
          <p:cNvPr id="18" name="Text 8"/>
          <p:cNvSpPr/>
          <p:nvPr/>
        </p:nvSpPr>
        <p:spPr>
          <a:xfrm>
            <a:off x="7825383" y="238410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Backpackers</a:t>
            </a:r>
            <a:endParaRPr lang="en-US" sz="2200" dirty="0"/>
          </a:p>
        </p:txBody>
      </p:sp>
      <p:sp>
        <p:nvSpPr>
          <p:cNvPr id="19" name="Text 9"/>
          <p:cNvSpPr/>
          <p:nvPr/>
        </p:nvSpPr>
        <p:spPr>
          <a:xfrm>
            <a:off x="7825383" y="2754392"/>
            <a:ext cx="300561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Budget-conscious explorers looking for value.</a:t>
            </a:r>
            <a:endParaRPr lang="en-US" sz="1750" dirty="0"/>
          </a:p>
        </p:txBody>
      </p:sp>
      <p:sp>
        <p:nvSpPr>
          <p:cNvPr id="20" name="Text 10"/>
          <p:cNvSpPr/>
          <p:nvPr/>
        </p:nvSpPr>
        <p:spPr>
          <a:xfrm>
            <a:off x="11029353" y="4075866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Families</a:t>
            </a:r>
            <a:endParaRPr lang="en-US" sz="2200" dirty="0"/>
          </a:p>
        </p:txBody>
      </p:sp>
      <p:sp>
        <p:nvSpPr>
          <p:cNvPr id="21" name="Text 11"/>
          <p:cNvSpPr/>
          <p:nvPr/>
        </p:nvSpPr>
        <p:spPr>
          <a:xfrm>
            <a:off x="10944164" y="4431386"/>
            <a:ext cx="300561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Easy and stress-free vacation planning.</a:t>
            </a:r>
            <a:endParaRPr lang="en-US" sz="175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F2A8E3B-B822-BBF4-76EA-CF3A06222F1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98858" y="7702121"/>
            <a:ext cx="1869897" cy="4572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71783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User Stories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880241"/>
            <a:ext cx="2173724" cy="807958"/>
          </a:xfrm>
          <a:prstGeom prst="roundRect">
            <a:avLst>
              <a:gd name="adj" fmla="val 11791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21167" y="3084909"/>
            <a:ext cx="318968" cy="398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00"/>
              </a:lnSpc>
              <a:buNone/>
            </a:pPr>
            <a:r>
              <a:rPr lang="en-US" sz="25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1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3194328" y="3107055"/>
            <a:ext cx="227254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“A game changer!”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080861" y="3672959"/>
            <a:ext cx="10642402" cy="15240"/>
          </a:xfrm>
          <a:prstGeom prst="roundRect">
            <a:avLst>
              <a:gd name="adj" fmla="val 625116"/>
            </a:avLst>
          </a:prstGeom>
          <a:solidFill>
            <a:srgbClr val="D1C8C6"/>
          </a:solidFill>
          <a:ln/>
        </p:spPr>
      </p:sp>
      <p:sp>
        <p:nvSpPr>
          <p:cNvPr id="7" name="Shape 5"/>
          <p:cNvSpPr/>
          <p:nvPr/>
        </p:nvSpPr>
        <p:spPr>
          <a:xfrm>
            <a:off x="793790" y="3801547"/>
            <a:ext cx="4347567" cy="807958"/>
          </a:xfrm>
          <a:prstGeom prst="roundRect">
            <a:avLst>
              <a:gd name="adj" fmla="val 11791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08089" y="4006215"/>
            <a:ext cx="318968" cy="398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00"/>
              </a:lnSpc>
              <a:buNone/>
            </a:pPr>
            <a:r>
              <a:rPr lang="en-US" sz="25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2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5368171" y="4028361"/>
            <a:ext cx="2729746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“My go-to travel tool.”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254704" y="4594265"/>
            <a:ext cx="8468558" cy="15240"/>
          </a:xfrm>
          <a:prstGeom prst="roundRect">
            <a:avLst>
              <a:gd name="adj" fmla="val 625116"/>
            </a:avLst>
          </a:prstGeom>
          <a:solidFill>
            <a:srgbClr val="D1C8C6"/>
          </a:solidFill>
          <a:ln/>
        </p:spPr>
      </p:sp>
      <p:sp>
        <p:nvSpPr>
          <p:cNvPr id="11" name="Shape 9"/>
          <p:cNvSpPr/>
          <p:nvPr/>
        </p:nvSpPr>
        <p:spPr>
          <a:xfrm>
            <a:off x="793790" y="4722852"/>
            <a:ext cx="6521410" cy="807958"/>
          </a:xfrm>
          <a:prstGeom prst="roundRect">
            <a:avLst>
              <a:gd name="adj" fmla="val 11791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95011" y="4927521"/>
            <a:ext cx="318968" cy="3986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000"/>
              </a:lnSpc>
              <a:buNone/>
            </a:pPr>
            <a:r>
              <a:rPr lang="en-US" sz="25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3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7542014" y="4949666"/>
            <a:ext cx="230469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“Simply amazing!”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93790" y="5785961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Don't just take our word for it! Our users rave about ExploreEase. Hear their success stories and see how we've transformed their travels.</a:t>
            </a:r>
            <a:endParaRPr lang="en-US" sz="175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45AB595-8FBB-6C15-2431-CF19A3C32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75046" y="7723598"/>
            <a:ext cx="1876425" cy="4572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31865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Future Enhancements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1935956"/>
            <a:ext cx="4205168" cy="5406628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559981" y="2191107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297097" y="2191107"/>
            <a:ext cx="298346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Multi-Language Support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297097" y="2772251"/>
            <a:ext cx="329160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Catering to a global audience with diverse languages.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6297097" y="3702129"/>
            <a:ext cx="3291602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9815513" y="2191107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552628" y="2191107"/>
            <a:ext cx="2890718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Augmented Reality (AR)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0552628" y="2772251"/>
            <a:ext cx="3291602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Immersive travel experiences with AR technology.</a:t>
            </a:r>
            <a:endParaRPr lang="en-US" sz="1750" dirty="0"/>
          </a:p>
        </p:txBody>
      </p:sp>
      <p:sp>
        <p:nvSpPr>
          <p:cNvPr id="11" name="Shape 8"/>
          <p:cNvSpPr/>
          <p:nvPr/>
        </p:nvSpPr>
        <p:spPr>
          <a:xfrm>
            <a:off x="5559981" y="4546997"/>
            <a:ext cx="510302" cy="510302"/>
          </a:xfrm>
          <a:prstGeom prst="roundRect">
            <a:avLst>
              <a:gd name="adj" fmla="val 18669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97097" y="4546997"/>
            <a:ext cx="402086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AI-Powered Real-Time Assistance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297097" y="5128141"/>
            <a:ext cx="75470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Intelligent support throughout your journey.</a:t>
            </a:r>
            <a:endParaRPr lang="en-US" sz="1750" dirty="0"/>
          </a:p>
        </p:txBody>
      </p:sp>
      <p:sp>
        <p:nvSpPr>
          <p:cNvPr id="14" name="Text 11"/>
          <p:cNvSpPr/>
          <p:nvPr/>
        </p:nvSpPr>
        <p:spPr>
          <a:xfrm>
            <a:off x="6297097" y="5695117"/>
            <a:ext cx="7547015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7EED326-1051-C6F3-9F26-0419EE59EC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8858" y="7702121"/>
            <a:ext cx="1869897" cy="4572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2691527"/>
            <a:ext cx="75564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Explore Smarter with ExploreEase!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4449247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Recap: ExploreEase transforms travel planning with AI. Key benefits: Personalized itineraries and budget optimization. Let’s Explore Smarter with ExploreEase!</a:t>
            </a:r>
            <a:endParaRPr lang="en-US" sz="175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A0D9D9-E096-C233-F96C-B762AFF54E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98858" y="7702121"/>
            <a:ext cx="1869897" cy="4572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593</Words>
  <Application>Microsoft Office PowerPoint</Application>
  <PresentationFormat>Custom</PresentationFormat>
  <Paragraphs>121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Open Sans</vt:lpstr>
      <vt:lpstr>Crimson Pro 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Santhosh VS</cp:lastModifiedBy>
  <cp:revision>7</cp:revision>
  <dcterms:created xsi:type="dcterms:W3CDTF">2025-04-02T15:14:11Z</dcterms:created>
  <dcterms:modified xsi:type="dcterms:W3CDTF">2025-04-20T15:56:43Z</dcterms:modified>
</cp:coreProperties>
</file>